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0" r:id="rId3"/>
    <p:sldId id="271" r:id="rId5"/>
    <p:sldId id="272" r:id="rId6"/>
    <p:sldId id="279" r:id="rId7"/>
    <p:sldId id="273" r:id="rId8"/>
    <p:sldId id="274" r:id="rId9"/>
    <p:sldId id="275" r:id="rId10"/>
    <p:sldId id="276" r:id="rId11"/>
    <p:sldId id="277" r:id="rId12"/>
    <p:sldId id="278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ext Placeholder 1048607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Good morning/afternoon everyone. Today I'll be presenting my DBMS project – a Custom Risk Management Database System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ext Placeholder 1048600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"For this project, I focused on the Banking Management System area, specifically risk management. After evaluating several options like core banking systems and data warehouses, I chose to build a custom risk management database.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 Placeholder 1048595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"So what does this system actually do? 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0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en-US" dirty="0"/>
          </a:p>
        </p:txBody>
      </p:sp>
      <p:sp>
        <p:nvSpPr>
          <p:cNvPr id="10486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21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en-US" dirty="0"/>
          </a:p>
        </p:txBody>
      </p:sp>
      <p:sp>
        <p:nvSpPr>
          <p:cNvPr id="1048622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ctrTitle"/>
          </p:nvPr>
        </p:nvSpPr>
        <p:spPr>
          <a:xfrm>
            <a:off x="590337" y="1517451"/>
            <a:ext cx="7772400" cy="2387600"/>
          </a:xfrm>
        </p:spPr>
        <p:txBody>
          <a:bodyPr>
            <a:normAutofit/>
          </a:bodyPr>
          <a:p>
            <a:r>
              <a:rPr lang="en-US" altLang="zh-CN" sz="4100" b="1" i="1" u="sng"/>
              <a:t>R</a:t>
            </a:r>
            <a:r>
              <a:rPr lang="en-US" altLang="zh-CN" sz="4100" b="1" i="1" u="sng"/>
              <a:t>I</a:t>
            </a:r>
            <a:r>
              <a:rPr lang="en-US" altLang="zh-CN" sz="4100" b="1" i="1" u="sng"/>
              <a:t>S</a:t>
            </a:r>
            <a:r>
              <a:rPr lang="en-US" altLang="zh-CN" sz="4100" b="1" i="1" u="sng"/>
              <a:t>K</a:t>
            </a:r>
            <a:r>
              <a:rPr lang="en-US" altLang="zh-CN" sz="4100" b="1" i="1" u="sng"/>
              <a:t> </a:t>
            </a:r>
            <a:r>
              <a:rPr lang="en-US" altLang="zh-CN" sz="4100" b="1" i="1" u="sng"/>
              <a:t>M</a:t>
            </a:r>
            <a:r>
              <a:rPr lang="en-US" altLang="zh-CN" sz="4100" b="1" i="1" u="sng"/>
              <a:t>A</a:t>
            </a:r>
            <a:r>
              <a:rPr lang="en-US" altLang="zh-CN" sz="4100" b="1" i="1" u="sng"/>
              <a:t>NAGEMENT </a:t>
            </a:r>
            <a:r>
              <a:rPr lang="en-US" altLang="zh-CN" sz="4100" b="1" i="1" u="sng"/>
              <a:t>D</a:t>
            </a:r>
            <a:r>
              <a:rPr lang="en-US" altLang="zh-CN" sz="4100" b="1" i="1" u="sng"/>
              <a:t>A</a:t>
            </a:r>
            <a:r>
              <a:rPr lang="en-US" altLang="zh-CN" sz="4100" b="1" i="1" u="sng"/>
              <a:t>T</a:t>
            </a:r>
            <a:r>
              <a:rPr lang="en-US" altLang="zh-CN" sz="4100" b="1" i="1" u="sng"/>
              <a:t>A</a:t>
            </a:r>
            <a:r>
              <a:rPr lang="en-US" altLang="zh-CN" sz="4100" b="1" i="1" u="sng"/>
              <a:t>B</a:t>
            </a:r>
            <a:r>
              <a:rPr lang="en-US" altLang="zh-CN" sz="4100" b="1" i="1" u="sng"/>
              <a:t>A</a:t>
            </a:r>
            <a:r>
              <a:rPr lang="en-US" altLang="zh-CN" sz="4100" b="1" i="1" u="sng"/>
              <a:t>S</a:t>
            </a:r>
            <a:r>
              <a:rPr lang="en-US" altLang="zh-CN" sz="4100" b="1" i="1" u="sng"/>
              <a:t>E</a:t>
            </a:r>
            <a:br>
              <a:rPr lang="en-US" altLang="zh-CN" sz="4100" b="1" i="1" u="sng"/>
            </a:br>
            <a:r>
              <a:rPr lang="en-US" altLang="zh-CN" sz="4100" b="1" i="1" u="sng"/>
              <a:t> </a:t>
            </a:r>
            <a:r>
              <a:rPr lang="en-US" altLang="zh-CN" sz="4100" b="1" i="1" u="sng"/>
              <a:t>S</a:t>
            </a:r>
            <a:r>
              <a:rPr lang="en-US" altLang="zh-CN" sz="4100" b="1" i="1" u="sng"/>
              <a:t>Y</a:t>
            </a:r>
            <a:r>
              <a:rPr lang="en-US" altLang="zh-CN" sz="4100" b="1" i="1" u="sng"/>
              <a:t>S</a:t>
            </a:r>
            <a:r>
              <a:rPr lang="en-US" altLang="zh-CN" sz="4100" b="1" i="1" u="sng"/>
              <a:t>T</a:t>
            </a:r>
            <a:r>
              <a:rPr lang="en-US" altLang="zh-CN" sz="4100" b="1" i="1" u="sng"/>
              <a:t>E</a:t>
            </a:r>
            <a:r>
              <a:rPr lang="en-US" altLang="zh-CN" sz="4100" b="1" i="1" u="sng"/>
              <a:t>M</a:t>
            </a:r>
            <a:endParaRPr lang="en-US" altLang="zh-CN" sz="4100" b="1" i="1"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048598"/>
          <p:cNvSpPr>
            <a:spLocks noGrp="1"/>
          </p:cNvSpPr>
          <p:nvPr>
            <p:ph type="title"/>
          </p:nvPr>
        </p:nvSpPr>
        <p:spPr>
          <a:xfrm>
            <a:off x="504009" y="149459"/>
            <a:ext cx="7886700" cy="1325563"/>
          </a:xfrm>
        </p:spPr>
        <p:txBody>
          <a:bodyPr/>
          <a:p>
            <a:r>
              <a:rPr lang="en-US" sz="4600" b="1" i="1" u="sng"/>
              <a:t>R</a:t>
            </a:r>
            <a:r>
              <a:rPr lang="en-US" sz="4600" b="1" i="1" u="sng"/>
              <a:t>i</a:t>
            </a:r>
            <a:r>
              <a:rPr lang="en-US" sz="4600" b="1" i="1" u="sng"/>
              <a:t>s</a:t>
            </a:r>
            <a:r>
              <a:rPr lang="en-US" sz="4600" b="1" i="1" u="sng"/>
              <a:t>k</a:t>
            </a:r>
            <a:r>
              <a:rPr lang="en-US" sz="4600" b="1" i="1" u="sng"/>
              <a:t> </a:t>
            </a:r>
            <a:r>
              <a:rPr lang="en-US" sz="4600" b="1" i="1" u="sng"/>
              <a:t>M</a:t>
            </a:r>
            <a:r>
              <a:rPr lang="en-US" sz="4600" b="1" i="1" u="sng"/>
              <a:t>anagement </a:t>
            </a:r>
            <a:r>
              <a:rPr lang="en-US" sz="4600" b="1" i="1" u="sng"/>
              <a:t>system </a:t>
            </a:r>
            <a:endParaRPr lang="en-IN" sz="4600" b="1" i="1" u="sng"/>
          </a:p>
        </p:txBody>
      </p:sp>
      <p:sp>
        <p:nvSpPr>
          <p:cNvPr id="1048600" name="Content Placeholder 1048599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This risk Management Database System is  built on MySQL for the banking domain.</a:t>
            </a:r>
            <a:endParaRPr lang="en-IN"/>
          </a:p>
          <a:p>
            <a:endParaRPr lang="en-IN"/>
          </a:p>
          <a:p>
            <a:r>
              <a:rPr lang="en-US"/>
              <a:t> This system addresses real regulatory and operational needs while being cost-effective and scalable.</a:t>
            </a:r>
            <a:endParaRPr lang="en-IN"/>
          </a:p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04859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5100" b="1" i="1" u="sng"/>
              <a:t>W</a:t>
            </a:r>
            <a:r>
              <a:rPr lang="en-US" sz="5100" b="1" i="1" u="sng"/>
              <a:t>h</a:t>
            </a:r>
            <a:r>
              <a:rPr lang="en-US" sz="5100" b="1" i="1" u="sng"/>
              <a:t>y</a:t>
            </a:r>
            <a:r>
              <a:rPr lang="en-US" sz="5100" b="1" i="1" u="sng"/>
              <a:t> </a:t>
            </a:r>
            <a:r>
              <a:rPr lang="en-US" sz="5100" b="1" i="1" u="sng"/>
              <a:t>t</a:t>
            </a:r>
            <a:r>
              <a:rPr lang="en-US" sz="5100" b="1" i="1" u="sng"/>
              <a:t>h</a:t>
            </a:r>
            <a:r>
              <a:rPr lang="en-US" sz="5100" b="1" i="1" u="sng"/>
              <a:t>i</a:t>
            </a:r>
            <a:r>
              <a:rPr lang="en-US" sz="5100" b="1" i="1" u="sng"/>
              <a:t>s</a:t>
            </a:r>
            <a:r>
              <a:rPr lang="en-US" sz="5100" b="1" i="1" u="sng"/>
              <a:t> </a:t>
            </a:r>
            <a:r>
              <a:rPr lang="en-US" sz="5100" b="1" i="1" u="sng"/>
              <a:t>s</a:t>
            </a:r>
            <a:r>
              <a:rPr lang="en-US" sz="5100" b="1" i="1" u="sng"/>
              <a:t>y</a:t>
            </a:r>
            <a:r>
              <a:rPr lang="en-US" sz="5100" b="1" i="1" u="sng"/>
              <a:t>s</a:t>
            </a:r>
            <a:r>
              <a:rPr lang="en-US" sz="5100" b="1" i="1" u="sng"/>
              <a:t>t</a:t>
            </a:r>
            <a:r>
              <a:rPr lang="en-US" sz="5100" b="1" i="1" u="sng"/>
              <a:t>em</a:t>
            </a:r>
            <a:r>
              <a:rPr lang="en-US" sz="5100" b="1" i="1" u="sng"/>
              <a:t>? </a:t>
            </a:r>
            <a:endParaRPr lang="en-IN" sz="5100" b="1" i="1" u="sng"/>
          </a:p>
        </p:txBody>
      </p:sp>
      <p:sp>
        <p:nvSpPr>
          <p:cNvPr id="1048595" name="Content Placeholder 1048594"/>
          <p:cNvSpPr>
            <a:spLocks noGrp="1"/>
          </p:cNvSpPr>
          <p:nvPr>
            <p:ph idx="1"/>
          </p:nvPr>
        </p:nvSpPr>
        <p:spPr>
          <a:xfrm>
            <a:off x="469062" y="1562511"/>
            <a:ext cx="7886700" cy="4351338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2300"/>
              <a:t>1. It's cost-effective – open source, no licensing fees like Oracle or SQL Server.</a:t>
            </a:r>
            <a:endParaRPr lang="en-US" sz="2300"/>
          </a:p>
          <a:p>
            <a:pPr marL="0" indent="0">
              <a:buNone/>
            </a:pPr>
            <a:endParaRPr lang="en-IN" sz="2300"/>
          </a:p>
          <a:p>
            <a:pPr marL="0" indent="0">
              <a:buNone/>
            </a:pPr>
            <a:r>
              <a:rPr lang="en-US" sz="2300"/>
              <a:t>2. It's ACID compliant through the InnoDB engine, which is critical for transactional integrity when calculating daily risk exposures.</a:t>
            </a:r>
            <a:endParaRPr lang="en-US" sz="2300"/>
          </a:p>
          <a:p>
            <a:pPr marL="0" indent="0">
              <a:buNone/>
            </a:pPr>
            <a:endParaRPr lang="en-IN" sz="2300"/>
          </a:p>
          <a:p>
            <a:pPr marL="0" indent="0">
              <a:buNone/>
            </a:pPr>
            <a:r>
              <a:rPr lang="en-US" sz="2300"/>
              <a:t>3. It's scalable – we can add partitions, read replicas, and even InnoDB Cluster for high availability.</a:t>
            </a:r>
            <a:endParaRPr lang="en-US" sz="2300"/>
          </a:p>
          <a:p>
            <a:pPr marL="0" indent="0">
              <a:buNone/>
            </a:pPr>
            <a:endParaRPr lang="en-IN" sz="2300"/>
          </a:p>
          <a:p>
            <a:pPr marL="0" indent="0">
              <a:buNone/>
            </a:pPr>
            <a:endParaRPr lang="en-IN"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i="1" u="sng"/>
              <a:t>More reasons</a:t>
            </a:r>
            <a:endParaRPr lang="en-US" b="1" i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ym typeface="+mn-ea"/>
              </a:rPr>
              <a:t>4. It's regulatory ready with built-in audit trails, encryption, and role-based access control.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US">
                <a:sym typeface="+mn-ea"/>
              </a:rPr>
              <a:t>5. It's flexible enough to store both structured data like Value-at-Risk numbers and semi-structured data from market feeds.</a:t>
            </a:r>
            <a:endParaRPr lang="en-IN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048589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b="1" i="1" u="sng"/>
              <a:t>B</a:t>
            </a:r>
            <a:r>
              <a:rPr lang="en-US" sz="3600" b="1" i="1" u="sng"/>
              <a:t>us</a:t>
            </a:r>
            <a:r>
              <a:rPr lang="en-US" sz="3600" b="1" i="1" u="sng"/>
              <a:t>iness </a:t>
            </a:r>
            <a:r>
              <a:rPr lang="en-US" sz="3600" b="1" i="1" u="sng"/>
              <a:t>ca</a:t>
            </a:r>
            <a:r>
              <a:rPr lang="en-US" sz="3600" b="1" i="1" u="sng"/>
              <a:t>se</a:t>
            </a:r>
            <a:r>
              <a:rPr lang="en-US" sz="3600" b="1" i="1" u="sng"/>
              <a:t> f</a:t>
            </a:r>
            <a:r>
              <a:rPr lang="en-US" sz="3600" b="1" i="1" u="sng"/>
              <a:t>or</a:t>
            </a:r>
            <a:r>
              <a:rPr lang="en-US" sz="3600" b="1" i="1" u="sng"/>
              <a:t> t</a:t>
            </a:r>
            <a:r>
              <a:rPr lang="en-US" sz="3600" b="1" i="1" u="sng"/>
              <a:t>hi</a:t>
            </a:r>
            <a:r>
              <a:rPr lang="en-US" sz="3600" b="1" i="1" u="sng"/>
              <a:t>s </a:t>
            </a:r>
            <a:r>
              <a:rPr lang="en-US" sz="3600" b="1" i="1" u="sng"/>
              <a:t>sy</a:t>
            </a:r>
            <a:r>
              <a:rPr lang="en-US" sz="3600" b="1" i="1" u="sng"/>
              <a:t>stem </a:t>
            </a:r>
            <a:endParaRPr lang="en-IN" sz="3600" b="1" i="1" u="sng"/>
          </a:p>
        </p:txBody>
      </p:sp>
      <p:sp>
        <p:nvSpPr>
          <p:cNvPr id="1048591" name="Content Placeholder 1048590"/>
          <p:cNvSpPr>
            <a:spLocks noGrp="1"/>
          </p:cNvSpPr>
          <p:nvPr>
            <p:ph idx="1"/>
          </p:nvPr>
        </p:nvSpPr>
        <p:spPr>
          <a:xfrm>
            <a:off x="318098" y="1483646"/>
            <a:ext cx="7886700" cy="4351338"/>
          </a:xfrm>
        </p:spPr>
        <p:txBody>
          <a:bodyPr/>
          <a:p>
            <a:pPr marL="0" indent="0">
              <a:buNone/>
            </a:pPr>
            <a:r>
              <a:rPr lang="en-US" b="1" i="1" u="sng"/>
              <a:t> It supports five key tasks</a:t>
            </a:r>
            <a:r>
              <a:rPr lang="en-US" i="1"/>
              <a:t>:</a:t>
            </a:r>
            <a:endParaRPr lang="en-IN" i="1"/>
          </a:p>
          <a:p>
            <a:pPr algn="l"/>
            <a:r>
              <a:rPr lang="en-US"/>
              <a:t> </a:t>
            </a:r>
            <a:r>
              <a:rPr lang="en-US"/>
              <a:t>D</a:t>
            </a:r>
            <a:r>
              <a:rPr lang="en-US"/>
              <a:t>aily Value-at-Risk calculation per portfolio</a:t>
            </a:r>
            <a:r>
              <a:rPr lang="en-US"/>
              <a:t>.</a:t>
            </a:r>
            <a:endParaRPr lang="en-IN"/>
          </a:p>
          <a:p>
            <a:pPr algn="l"/>
            <a:r>
              <a:rPr lang="en-US"/>
              <a:t>Tracking counter</a:t>
            </a:r>
            <a:r>
              <a:rPr lang="en-US"/>
              <a:t>p</a:t>
            </a:r>
            <a:r>
              <a:rPr lang="en-US"/>
              <a:t>arty exposures and collateral coverage</a:t>
            </a:r>
            <a:r>
              <a:rPr lang="en-US"/>
              <a:t>.</a:t>
            </a:r>
            <a:endParaRPr lang="en-IN"/>
          </a:p>
          <a:p>
            <a:pPr algn="l"/>
            <a:r>
              <a:rPr lang="en-US"/>
              <a:t> </a:t>
            </a:r>
            <a:r>
              <a:rPr lang="en-US"/>
              <a:t>R</a:t>
            </a:r>
            <a:r>
              <a:rPr lang="en-US"/>
              <a:t>ecording operational loss events and linking them to risk controls</a:t>
            </a:r>
            <a:r>
              <a:rPr lang="en-US"/>
              <a:t>.</a:t>
            </a:r>
            <a:endParaRPr lang="en-IN"/>
          </a:p>
          <a:p>
            <a:pPr algn="l"/>
            <a:r>
              <a:rPr lang="en-US"/>
              <a:t>S</a:t>
            </a:r>
            <a:r>
              <a:rPr lang="en-US"/>
              <a:t>toring market risk factors like interest rates</a:t>
            </a:r>
            <a:r>
              <a:rPr lang="en-US"/>
              <a:t>.</a:t>
            </a:r>
            <a:endParaRPr lang="en-IN"/>
          </a:p>
          <a:p>
            <a:pPr algn="l"/>
            <a:r>
              <a:rPr lang="en-US"/>
              <a:t>A</a:t>
            </a:r>
            <a:r>
              <a:rPr lang="en-US"/>
              <a:t>l</a:t>
            </a:r>
            <a:r>
              <a:rPr lang="en-US"/>
              <a:t>s</a:t>
            </a:r>
            <a:r>
              <a:rPr lang="en-US"/>
              <a:t>o</a:t>
            </a:r>
            <a:r>
              <a:rPr lang="en-US"/>
              <a:t> </a:t>
            </a:r>
            <a:r>
              <a:rPr lang="en-US"/>
              <a:t>u</a:t>
            </a:r>
            <a:r>
              <a:rPr lang="en-US"/>
              <a:t>s</a:t>
            </a:r>
            <a:r>
              <a:rPr lang="en-US"/>
              <a:t>e</a:t>
            </a:r>
            <a:r>
              <a:rPr lang="en-US"/>
              <a:t>d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g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ing 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g</a:t>
            </a:r>
            <a:r>
              <a:rPr lang="en-US"/>
              <a:t>u</a:t>
            </a:r>
            <a:r>
              <a:rPr lang="en-US"/>
              <a:t>latory 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p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t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. </a:t>
            </a:r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04858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5400" b="1" i="1" u="sng"/>
              <a:t>W</a:t>
            </a:r>
            <a:r>
              <a:rPr lang="en-US" sz="5400" b="1" i="1" u="sng"/>
              <a:t>h</a:t>
            </a:r>
            <a:r>
              <a:rPr lang="en-US" sz="5400" b="1" i="1" u="sng"/>
              <a:t>o</a:t>
            </a:r>
            <a:r>
              <a:rPr lang="en-US" sz="5400" b="1" i="1" u="sng"/>
              <a:t> </a:t>
            </a:r>
            <a:r>
              <a:rPr lang="en-US" sz="5400" b="1" i="1" u="sng"/>
              <a:t>u</a:t>
            </a:r>
            <a:r>
              <a:rPr lang="en-US" sz="5400" b="1" i="1" u="sng"/>
              <a:t>s</a:t>
            </a:r>
            <a:r>
              <a:rPr lang="en-US" sz="5400" b="1" i="1" u="sng"/>
              <a:t>e</a:t>
            </a:r>
            <a:r>
              <a:rPr lang="en-US" sz="5400" b="1" i="1" u="sng"/>
              <a:t>s</a:t>
            </a:r>
            <a:r>
              <a:rPr lang="en-US" sz="5400" b="1" i="1" u="sng"/>
              <a:t> </a:t>
            </a:r>
            <a:r>
              <a:rPr lang="en-US" sz="5400" b="1" i="1" u="sng"/>
              <a:t>t</a:t>
            </a:r>
            <a:r>
              <a:rPr lang="en-US" sz="5400" b="1" i="1" u="sng"/>
              <a:t>h</a:t>
            </a:r>
            <a:r>
              <a:rPr lang="en-US" sz="5400" b="1" i="1" u="sng"/>
              <a:t>e</a:t>
            </a:r>
            <a:r>
              <a:rPr lang="en-US" sz="5400" b="1" i="1" u="sng"/>
              <a:t> </a:t>
            </a:r>
            <a:r>
              <a:rPr lang="en-US" sz="5400" b="1" i="1" u="sng"/>
              <a:t>s</a:t>
            </a:r>
            <a:r>
              <a:rPr lang="en-US" sz="5400" b="1" i="1" u="sng"/>
              <a:t>y</a:t>
            </a:r>
            <a:r>
              <a:rPr lang="en-US" sz="5400" b="1" i="1" u="sng"/>
              <a:t>s</a:t>
            </a:r>
            <a:r>
              <a:rPr lang="en-US" sz="5400" b="1" i="1" u="sng"/>
              <a:t>t</a:t>
            </a:r>
            <a:r>
              <a:rPr lang="en-US" sz="5400" b="1" i="1" u="sng"/>
              <a:t>e</a:t>
            </a:r>
            <a:r>
              <a:rPr lang="en-US" sz="5400" b="1" i="1" u="sng"/>
              <a:t>m</a:t>
            </a:r>
            <a:r>
              <a:rPr lang="en-US"/>
              <a:t>? </a:t>
            </a:r>
            <a:endParaRPr lang="en-IN"/>
          </a:p>
        </p:txBody>
      </p:sp>
      <p:sp>
        <p:nvSpPr>
          <p:cNvPr id="1048587" name="Content Placeholder 1048586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3000" b="1" i="1" u="sng"/>
              <a:t>Four user groups:</a:t>
            </a:r>
            <a:endParaRPr lang="en-IN" sz="3000" b="1" i="1" u="sng"/>
          </a:p>
          <a:p>
            <a:r>
              <a:rPr lang="en-US"/>
              <a:t>R</a:t>
            </a:r>
            <a:r>
              <a:rPr lang="en-US"/>
              <a:t>isk analysts who run daily queries and validate VaR.</a:t>
            </a:r>
            <a:endParaRPr lang="en-IN"/>
          </a:p>
          <a:p>
            <a:r>
              <a:rPr lang="en-US"/>
              <a:t>T</a:t>
            </a:r>
            <a:r>
              <a:rPr lang="en-US"/>
              <a:t>he Chief Risk Officer who needs dashboard summaries.</a:t>
            </a:r>
            <a:endParaRPr lang="en-IN"/>
          </a:p>
          <a:p>
            <a:r>
              <a:rPr lang="en-US"/>
              <a:t>C</a:t>
            </a:r>
            <a:r>
              <a:rPr lang="en-US"/>
              <a:t>ompliance officers who audit data lineag</a:t>
            </a:r>
            <a:r>
              <a:rPr lang="en-US"/>
              <a:t>e.</a:t>
            </a:r>
            <a:endParaRPr lang="en-IN"/>
          </a:p>
          <a:p>
            <a:r>
              <a:rPr lang="en-US"/>
              <a:t>A</a:t>
            </a:r>
            <a:r>
              <a:rPr lang="en-US"/>
              <a:t>nd internal audit to verify data integrity</a:t>
            </a:r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04858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5300" b="1" i="1" u="sng"/>
              <a:t>A</a:t>
            </a:r>
            <a:r>
              <a:rPr lang="en-US" sz="5300" b="1" i="1" u="sng"/>
              <a:t>n</a:t>
            </a:r>
            <a:r>
              <a:rPr lang="en-US" sz="5300" b="1" i="1" u="sng"/>
              <a:t>a</a:t>
            </a:r>
            <a:r>
              <a:rPr lang="en-US" sz="5300" b="1" i="1" u="sng"/>
              <a:t>l</a:t>
            </a:r>
            <a:r>
              <a:rPr lang="en-US" sz="5300" b="1" i="1" u="sng"/>
              <a:t>ysis </a:t>
            </a:r>
            <a:r>
              <a:rPr lang="en-US" sz="5300" b="1" i="1" u="sng"/>
              <a:t>of</a:t>
            </a:r>
            <a:r>
              <a:rPr lang="en-US" sz="5300" b="1" i="1" u="sng"/>
              <a:t> </a:t>
            </a:r>
            <a:r>
              <a:rPr lang="en-US" sz="5300" b="1" i="1" u="sng"/>
              <a:t>b</a:t>
            </a:r>
            <a:r>
              <a:rPr lang="en-US" sz="5300" b="1" i="1" u="sng"/>
              <a:t>e</a:t>
            </a:r>
            <a:r>
              <a:rPr lang="en-US" sz="5300" b="1" i="1" u="sng"/>
              <a:t>n</a:t>
            </a:r>
            <a:r>
              <a:rPr lang="en-US" sz="5300" b="1" i="1" u="sng"/>
              <a:t>e</a:t>
            </a:r>
            <a:r>
              <a:rPr lang="en-US" sz="5300" b="1" i="1" u="sng"/>
              <a:t>f</a:t>
            </a:r>
            <a:r>
              <a:rPr lang="en-US" sz="5300" b="1" i="1" u="sng"/>
              <a:t>its</a:t>
            </a:r>
            <a:r>
              <a:rPr lang="en-US" sz="5300" b="1" i="1" u="sng"/>
              <a:t>.</a:t>
            </a:r>
            <a:r>
              <a:rPr lang="en-US"/>
              <a:t> </a:t>
            </a:r>
            <a:endParaRPr lang="en-IN"/>
          </a:p>
        </p:txBody>
      </p:sp>
      <p:sp>
        <p:nvSpPr>
          <p:cNvPr id="1048589" name="Content Placeholder 104858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sz="2400" b="1" i="1" u="sng"/>
              <a:t>Tangible side</a:t>
            </a:r>
            <a:r>
              <a:rPr lang="en-US" sz="2400" b="1" u="sng"/>
              <a:t>:</a:t>
            </a:r>
            <a:endParaRPr lang="en-IN" sz="2400" b="1" u="sng"/>
          </a:p>
          <a:p>
            <a:pPr marL="0" indent="0">
              <a:buNone/>
            </a:pPr>
            <a:r>
              <a:rPr lang="en-US" sz="2400"/>
              <a:t>· Regulatory compliance </a:t>
            </a:r>
            <a:endParaRPr lang="en-IN" sz="2400"/>
          </a:p>
          <a:p>
            <a:pPr marL="0" indent="0">
              <a:buNone/>
            </a:pPr>
            <a:r>
              <a:rPr lang="en-US" sz="2400"/>
              <a:t>· Operational efficienc</a:t>
            </a:r>
            <a:r>
              <a:rPr lang="en-US" sz="2400"/>
              <a:t>y.</a:t>
            </a:r>
            <a:endParaRPr lang="en-IN" sz="2400"/>
          </a:p>
          <a:p>
            <a:pPr marL="0" indent="0">
              <a:buNone/>
            </a:pPr>
            <a:r>
              <a:rPr lang="en-US" sz="2400"/>
              <a:t>· Lower IT costs </a:t>
            </a:r>
            <a:endParaRPr lang="en-IN" sz="2400"/>
          </a:p>
          <a:p>
            <a:pPr marL="0" indent="0">
              <a:buNone/>
            </a:pPr>
            <a:r>
              <a:rPr lang="en-US" sz="2400"/>
              <a:t>· Audit readi</a:t>
            </a:r>
            <a:r>
              <a:rPr lang="en-US" sz="2400"/>
              <a:t>ne</a:t>
            </a:r>
            <a:r>
              <a:rPr lang="en-US" sz="2400"/>
              <a:t>ss</a:t>
            </a:r>
            <a:endParaRPr lang="en-US" sz="2400"/>
          </a:p>
          <a:p>
            <a:pPr marL="0" indent="0">
              <a:buNone/>
            </a:pPr>
            <a:endParaRPr lang="en-IN" sz="2400"/>
          </a:p>
          <a:p>
            <a:pPr marL="0" indent="0">
              <a:buNone/>
            </a:pPr>
            <a:r>
              <a:rPr lang="en-US" sz="2400" b="1" i="1" u="sng"/>
              <a:t>Intangible benefits are equally important</a:t>
            </a:r>
            <a:r>
              <a:rPr lang="en-US" sz="2400" b="1" u="sng"/>
              <a:t>:</a:t>
            </a:r>
            <a:endParaRPr lang="en-US" sz="2400" b="1" u="sng"/>
          </a:p>
          <a:p>
            <a:pPr marL="0" indent="0">
              <a:buNone/>
            </a:pPr>
            <a:endParaRPr lang="en-IN" sz="2400" b="1" u="sng"/>
          </a:p>
          <a:p>
            <a:pPr marL="0" indent="0">
              <a:buNone/>
            </a:pPr>
            <a:r>
              <a:rPr lang="en-US" sz="2400"/>
              <a:t>· Better risk decisions</a:t>
            </a:r>
            <a:endParaRPr lang="en-IN" sz="2400"/>
          </a:p>
          <a:p>
            <a:pPr marL="0" indent="0">
              <a:buNone/>
            </a:pPr>
            <a:r>
              <a:rPr lang="en-US" sz="2400"/>
              <a:t>· Competitive advantage</a:t>
            </a:r>
            <a:endParaRPr lang="en-IN" sz="2400"/>
          </a:p>
          <a:p>
            <a:pPr marL="0" indent="0">
              <a:buNone/>
            </a:pPr>
            <a:endParaRPr lang="en-IN" sz="2090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04859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700" b="1" i="1" u="sng"/>
              <a:t>C</a:t>
            </a:r>
            <a:r>
              <a:rPr lang="en-US" sz="4700" b="1" i="1" u="sng"/>
              <a:t>o</a:t>
            </a:r>
            <a:r>
              <a:rPr lang="en-US" sz="4700" b="1" i="1" u="sng"/>
              <a:t>s</a:t>
            </a:r>
            <a:r>
              <a:rPr lang="en-US" sz="4700" b="1" i="1" u="sng"/>
              <a:t>t</a:t>
            </a:r>
            <a:r>
              <a:rPr lang="en-US" sz="4700" b="1" i="1" u="sng"/>
              <a:t> </a:t>
            </a:r>
            <a:r>
              <a:rPr lang="en-US" sz="4700" b="1" i="1" u="sng"/>
              <a:t>A</a:t>
            </a:r>
            <a:r>
              <a:rPr lang="en-US" sz="4700" b="1" i="1" u="sng"/>
              <a:t>n</a:t>
            </a:r>
            <a:r>
              <a:rPr lang="en-US" sz="4700" b="1" i="1" u="sng"/>
              <a:t>a</a:t>
            </a:r>
            <a:r>
              <a:rPr lang="en-US" sz="4700" b="1" i="1" u="sng"/>
              <a:t>lysis </a:t>
            </a:r>
            <a:endParaRPr lang="en-IN" sz="4700" b="1" i="1" u="sng"/>
          </a:p>
        </p:txBody>
      </p:sp>
      <p:sp>
        <p:nvSpPr>
          <p:cNvPr id="1048593" name="Content Placeholder 1048592"/>
          <p:cNvSpPr>
            <a:spLocks noGrp="1"/>
          </p:cNvSpPr>
          <p:nvPr>
            <p:ph idx="1"/>
          </p:nvPr>
        </p:nvSpPr>
        <p:spPr>
          <a:xfrm>
            <a:off x="801179" y="1690689"/>
            <a:ext cx="7886700" cy="4351338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395" b="1" i="1" u="sng"/>
              <a:t>Tangible costs include:</a:t>
            </a:r>
            <a:endParaRPr lang="en-IN" sz="2395" b="1" i="1" u="sng"/>
          </a:p>
          <a:p>
            <a:r>
              <a:rPr lang="en-US" sz="2395" b="1" i="1" u="sng"/>
              <a:t>H</a:t>
            </a:r>
            <a:r>
              <a:rPr lang="en-US" sz="2395" b="1" i="1" u="sng"/>
              <a:t>ardware </a:t>
            </a:r>
            <a:r>
              <a:rPr lang="en-US" sz="2395" b="0" i="0"/>
              <a:t>– a</a:t>
            </a:r>
            <a:r>
              <a:rPr lang="en-US" sz="2395"/>
              <a:t> modest 4-core, 16GB RAM, 500GB SSD server, either on-prem or cloud VM</a:t>
            </a:r>
            <a:endParaRPr lang="en-IN" sz="2395"/>
          </a:p>
          <a:p>
            <a:r>
              <a:rPr lang="en-US" sz="2395" b="1" i="1" u="sng"/>
              <a:t>Software </a:t>
            </a:r>
            <a:r>
              <a:rPr lang="en-US" sz="2395"/>
              <a:t>– MySQL Community Edition is free; optional backup tools add a small cost</a:t>
            </a:r>
            <a:endParaRPr lang="en-IN" sz="2395"/>
          </a:p>
          <a:p>
            <a:r>
              <a:rPr lang="en-US" sz="2395" b="1" i="1" u="sng"/>
              <a:t>Development </a:t>
            </a:r>
            <a:r>
              <a:rPr lang="en-US" sz="2395"/>
              <a:t>– two database developers for two months to handle schema design, ETL scripts, and stored procedures</a:t>
            </a:r>
            <a:endParaRPr lang="en-IN" sz="2395"/>
          </a:p>
          <a:p>
            <a:r>
              <a:rPr lang="en-US" sz="2395" b="1" i="1" u="sng"/>
              <a:t>T</a:t>
            </a:r>
            <a:r>
              <a:rPr lang="en-US" sz="2395" b="1" i="1" u="sng"/>
              <a:t>raining </a:t>
            </a:r>
            <a:r>
              <a:rPr lang="en-US" sz="2395"/>
              <a:t>– teaching risk analysts and IT staff basic SQL and database tools</a:t>
            </a:r>
            <a:endParaRPr lang="en-IN" sz="2395"/>
          </a:p>
          <a:p>
            <a:r>
              <a:rPr lang="en-US" sz="2395" b="1" i="1" u="sng"/>
              <a:t>M</a:t>
            </a:r>
            <a:r>
              <a:rPr lang="en-US" sz="2395" b="1" i="1" u="sng"/>
              <a:t>a</a:t>
            </a:r>
            <a:r>
              <a:rPr lang="en-US" sz="2395" b="1" i="1" u="sng"/>
              <a:t>i</a:t>
            </a:r>
            <a:r>
              <a:rPr lang="en-US" sz="2395" b="1" i="1" u="sng"/>
              <a:t>ntenance </a:t>
            </a:r>
            <a:r>
              <a:rPr lang="en-US" sz="2395"/>
              <a:t>– half a full-time equivalent DBA for backups, monitoring, and patches</a:t>
            </a:r>
            <a:endParaRPr lang="en-IN" sz="239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04859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5200" b="1" i="1" u="sng"/>
              <a:t>C</a:t>
            </a:r>
            <a:r>
              <a:rPr lang="en-US" sz="5200" b="1" i="1" u="sng"/>
              <a:t>o</a:t>
            </a:r>
            <a:r>
              <a:rPr lang="en-US" sz="5200" b="1" i="1" u="sng"/>
              <a:t>s</a:t>
            </a:r>
            <a:r>
              <a:rPr lang="en-US" sz="5200" b="1" i="1" u="sng"/>
              <a:t>t</a:t>
            </a:r>
            <a:r>
              <a:rPr lang="en-US" sz="5200" b="1" i="1" u="sng"/>
              <a:t> </a:t>
            </a:r>
            <a:r>
              <a:rPr lang="en-US" sz="5200" b="1" i="1" u="sng"/>
              <a:t>A</a:t>
            </a:r>
            <a:r>
              <a:rPr lang="en-US" sz="5200" b="1" i="1" u="sng"/>
              <a:t>n</a:t>
            </a:r>
            <a:r>
              <a:rPr lang="en-US" sz="5200" b="1" i="1" u="sng"/>
              <a:t>a</a:t>
            </a:r>
            <a:r>
              <a:rPr lang="en-US" sz="5200" b="1" i="1" u="sng"/>
              <a:t>l</a:t>
            </a:r>
            <a:r>
              <a:rPr lang="en-US" sz="5200" b="1" i="1" u="sng"/>
              <a:t>ysis</a:t>
            </a:r>
            <a:r>
              <a:rPr lang="en-US"/>
              <a:t> </a:t>
            </a:r>
            <a:endParaRPr lang="en-IN"/>
          </a:p>
        </p:txBody>
      </p:sp>
      <p:sp>
        <p:nvSpPr>
          <p:cNvPr id="1048598" name="Content Placeholder 1048597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 i="1" u="sng"/>
              <a:t>I</a:t>
            </a:r>
            <a:r>
              <a:rPr lang="en-US" b="1" i="1" u="sng"/>
              <a:t>n</a:t>
            </a:r>
            <a:r>
              <a:rPr lang="en-US" b="1" i="1" u="sng"/>
              <a:t>t</a:t>
            </a:r>
            <a:r>
              <a:rPr lang="en-US" b="1" i="1" u="sng"/>
              <a:t>angible risks are low</a:t>
            </a:r>
            <a:r>
              <a:rPr lang="en-US"/>
              <a:t>:</a:t>
            </a:r>
            <a:endParaRPr lang="en-IN"/>
          </a:p>
          <a:p>
            <a:r>
              <a:rPr lang="en-US" b="1" i="1" u="sng"/>
              <a:t>Migration risk </a:t>
            </a:r>
            <a:r>
              <a:rPr lang="en-US"/>
              <a:t>– data quality or downtime during cutover, but we mitigate with a parallel run.</a:t>
            </a:r>
            <a:endParaRPr lang="en-IN"/>
          </a:p>
          <a:p>
            <a:r>
              <a:rPr lang="en-US" b="1" i="1" u="sng"/>
              <a:t>Change management </a:t>
            </a:r>
            <a:r>
              <a:rPr lang="en-US"/>
              <a:t>– staff resistance, but training and involvement will address this.</a:t>
            </a:r>
            <a:endParaRPr lang="en-IN"/>
          </a:p>
          <a:p>
            <a:pPr marL="0" indent="0">
              <a:buNone/>
            </a:pPr>
            <a:r>
              <a:rPr lang="en-US" b="1" u="sng"/>
              <a:t>NB:</a:t>
            </a:r>
            <a:r>
              <a:rPr lang="en-US"/>
              <a:t>Overall, moderate tangible costs that are far outweighed by the benefits we just discussed."</a:t>
            </a:r>
            <a:endParaRPr lang="en-IN"/>
          </a:p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04860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700" b="1" i="1" u="sng"/>
              <a:t>Annual</a:t>
            </a:r>
            <a:r>
              <a:rPr lang="en-US" sz="4700" b="1" i="1" u="sng"/>
              <a:t> </a:t>
            </a:r>
            <a:r>
              <a:rPr lang="en-US" sz="4700" b="1" i="1" u="sng"/>
              <a:t>t</a:t>
            </a:r>
            <a:r>
              <a:rPr lang="en-US" sz="4700" b="1" i="1" u="sng"/>
              <a:t>a</a:t>
            </a:r>
            <a:r>
              <a:rPr lang="en-US" sz="4700" b="1" i="1" u="sng"/>
              <a:t>n</a:t>
            </a:r>
            <a:r>
              <a:rPr lang="en-US" sz="4700" b="1" i="1" u="sng"/>
              <a:t>g</a:t>
            </a:r>
            <a:r>
              <a:rPr lang="en-US" sz="4700" b="1" i="1" u="sng"/>
              <a:t>i</a:t>
            </a:r>
            <a:r>
              <a:rPr lang="en-US" sz="4700" b="1" i="1" u="sng"/>
              <a:t>b</a:t>
            </a:r>
            <a:r>
              <a:rPr lang="en-US" sz="4700" b="1" i="1" u="sng"/>
              <a:t>l</a:t>
            </a:r>
            <a:r>
              <a:rPr lang="en-US" sz="4700" b="1" i="1" u="sng"/>
              <a:t>e</a:t>
            </a:r>
            <a:r>
              <a:rPr lang="en-US" sz="4700" b="1" i="1" u="sng"/>
              <a:t> </a:t>
            </a:r>
            <a:r>
              <a:rPr lang="en-US" sz="4700" b="1" i="1" u="sng"/>
              <a:t>b</a:t>
            </a:r>
            <a:r>
              <a:rPr lang="en-US" sz="4700" b="1" i="1" u="sng"/>
              <a:t>e</a:t>
            </a:r>
            <a:r>
              <a:rPr lang="en-US" sz="4700" b="1" i="1" u="sng"/>
              <a:t>n</a:t>
            </a:r>
            <a:r>
              <a:rPr lang="en-US" sz="4700" b="1" i="1" u="sng"/>
              <a:t>e</a:t>
            </a:r>
            <a:r>
              <a:rPr lang="en-US" sz="4700" b="1" i="1" u="sng"/>
              <a:t>fits</a:t>
            </a:r>
            <a:r>
              <a:rPr lang="en-US"/>
              <a:t>. </a:t>
            </a:r>
            <a:endParaRPr lang="en-IN"/>
          </a:p>
        </p:txBody>
      </p:sp>
      <p:sp>
        <p:nvSpPr>
          <p:cNvPr id="1048610" name="Content Placeholder 1048609"/>
          <p:cNvSpPr>
            <a:spLocks noGrp="1"/>
          </p:cNvSpPr>
          <p:nvPr>
            <p:ph idx="1"/>
          </p:nvPr>
        </p:nvSpPr>
        <p:spPr>
          <a:xfrm>
            <a:off x="241966" y="1690688"/>
            <a:ext cx="7886700" cy="4351338"/>
          </a:xfrm>
        </p:spPr>
        <p:txBody>
          <a:bodyPr>
            <a:normAutofit lnSpcReduction="20000"/>
          </a:bodyPr>
          <a:p>
            <a:r>
              <a:rPr lang="en-US" sz="3100"/>
              <a:t>A</a:t>
            </a:r>
            <a:r>
              <a:rPr lang="en-US" sz="3100"/>
              <a:t>v</a:t>
            </a:r>
            <a:r>
              <a:rPr lang="en-US" sz="3100"/>
              <a:t>o</a:t>
            </a:r>
            <a:r>
              <a:rPr lang="en-US" sz="3100"/>
              <a:t>ided regulatory fines</a:t>
            </a:r>
            <a:endParaRPr lang="en-IN" sz="3100"/>
          </a:p>
          <a:p>
            <a:r>
              <a:rPr lang="en-US" sz="3100"/>
              <a:t>Analyst time saved</a:t>
            </a:r>
            <a:endParaRPr lang="en-IN" sz="3100"/>
          </a:p>
          <a:p>
            <a:r>
              <a:rPr lang="en-US" sz="3100"/>
              <a:t>L</a:t>
            </a:r>
            <a:r>
              <a:rPr lang="en-US" sz="3100"/>
              <a:t>i</a:t>
            </a:r>
            <a:r>
              <a:rPr lang="en-US" sz="3100"/>
              <a:t>censing savings from not buying Oracle or SQL Server</a:t>
            </a:r>
            <a:endParaRPr lang="en-IN" sz="3100"/>
          </a:p>
          <a:p>
            <a:r>
              <a:rPr lang="en-US" sz="3100"/>
              <a:t>Reduced audit fees</a:t>
            </a:r>
            <a:endParaRPr lang="en-US" sz="3100"/>
          </a:p>
          <a:p>
            <a:endParaRPr lang="en-IN" sz="3100"/>
          </a:p>
          <a:p>
            <a:pPr marL="0" indent="0">
              <a:buNone/>
            </a:pPr>
            <a:r>
              <a:rPr lang="en-US" sz="3100" b="1" i="1" u="sng">
                <a:sym typeface="+mn-ea"/>
              </a:rPr>
              <a:t>NB</a:t>
            </a:r>
            <a:r>
              <a:rPr lang="en-US" sz="3100">
                <a:sym typeface="+mn-ea"/>
              </a:rPr>
              <a:t>:  The key takeaway: tangible benefits alone already justify the project. Intangible benefits are icing on the cake."</a:t>
            </a:r>
            <a:endParaRPr lang="en-IN" sz="3100"/>
          </a:p>
          <a:p>
            <a:pPr marL="0" indent="0">
              <a:buNone/>
            </a:pPr>
            <a:endParaRPr lang="en-IN" sz="3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2606</Words>
  <Application>WPS Presentation</Application>
  <PresentationFormat/>
  <Paragraphs>85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DejaVu Sans</vt:lpstr>
      <vt:lpstr>Calibri Light</vt:lpstr>
      <vt:lpstr>Microsoft YaHei</vt:lpstr>
      <vt:lpstr>Droid Sans Fallback</vt:lpstr>
      <vt:lpstr>Arial Unicode MS</vt:lpstr>
      <vt:lpstr>Calibri</vt:lpstr>
      <vt:lpstr>OpenSymbol</vt:lpstr>
      <vt:lpstr>Arial Black</vt:lpstr>
      <vt:lpstr>SimSun</vt:lpstr>
      <vt:lpstr>Office Theme</vt:lpstr>
      <vt:lpstr>RISK MANAGEMENT DATABASE  SYSTEM</vt:lpstr>
      <vt:lpstr>Risk Management system </vt:lpstr>
      <vt:lpstr>Why this system? </vt:lpstr>
      <vt:lpstr>PowerPoint 演示文稿</vt:lpstr>
      <vt:lpstr>Business case for this system </vt:lpstr>
      <vt:lpstr>Who uses the system? </vt:lpstr>
      <vt:lpstr>Analysis of benefits. </vt:lpstr>
      <vt:lpstr>Cost Analysis </vt:lpstr>
      <vt:lpstr>Cost Analysis </vt:lpstr>
      <vt:lpstr>Annual tangible benefits.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DATABASE  SYSTEM</dc:title>
  <dc:creator>KYV48</dc:creator>
  <cp:lastModifiedBy>stephen</cp:lastModifiedBy>
  <cp:revision>1</cp:revision>
  <dcterms:created xsi:type="dcterms:W3CDTF">2026-05-06T15:09:16Z</dcterms:created>
  <dcterms:modified xsi:type="dcterms:W3CDTF">2026-05-06T15:09:16Z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38744837cfb24ef587ffd6396c646b2a_23</vt:lpwstr>
  </property>
  <property fmtid="{D5CDD505-2E9C-101B-9397-08002B2CF9AE}" pid="3" name="KSOProductBuildVer">
    <vt:lpwstr>1033-11.1.0.11723</vt:lpwstr>
  </property>
</Properties>
</file>